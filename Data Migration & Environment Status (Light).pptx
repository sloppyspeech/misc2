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Urbanist SemiBold"/>
      <p:regular r:id="rId8"/>
      <p:bold r:id="rId9"/>
      <p:italic r:id="rId10"/>
      <p:boldItalic r:id="rId11"/>
    </p:embeddedFont>
    <p:embeddedFont>
      <p:font typeface="Urbanist Medium"/>
      <p:regular r:id="rId12"/>
      <p:bold r:id="rId13"/>
      <p:italic r:id="rId14"/>
      <p:boldItalic r:id="rId15"/>
    </p:embeddedFont>
    <p:embeddedFont>
      <p:font typeface="Urbanis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rbanis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UrbanistSemiBold-regular.fntdata"/><Relationship Id="rId11" Type="http://schemas.openxmlformats.org/officeDocument/2006/relationships/font" Target="fonts/UrbanistSemiBold-boldItalic.fntdata"/><Relationship Id="rId10" Type="http://schemas.openxmlformats.org/officeDocument/2006/relationships/font" Target="fonts/UrbanistSemiBold-italic.fntdata"/><Relationship Id="rId13" Type="http://schemas.openxmlformats.org/officeDocument/2006/relationships/font" Target="fonts/UrbanistMedium-bold.fntdata"/><Relationship Id="rId12" Type="http://schemas.openxmlformats.org/officeDocument/2006/relationships/font" Target="fonts/UrbanistMedium-regular.fntdata"/><Relationship Id="rId15" Type="http://schemas.openxmlformats.org/officeDocument/2006/relationships/font" Target="fonts/UrbanistMedium-boldItalic.fntdata"/><Relationship Id="rId14" Type="http://schemas.openxmlformats.org/officeDocument/2006/relationships/font" Target="fonts/UrbanistMedium-italic.fntdata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19" Type="http://schemas.openxmlformats.org/officeDocument/2006/relationships/font" Target="fonts/Urbanist-boldItalic.fntdata"/><Relationship Id="rId18" Type="http://schemas.openxmlformats.org/officeDocument/2006/relationships/font" Target="fonts/Urbanis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png"/><Relationship Id="rId22" Type="http://schemas.openxmlformats.org/officeDocument/2006/relationships/image" Target="../media/image18.png"/><Relationship Id="rId21" Type="http://schemas.openxmlformats.org/officeDocument/2006/relationships/image" Target="../media/image23.png"/><Relationship Id="rId24" Type="http://schemas.openxmlformats.org/officeDocument/2006/relationships/image" Target="../media/image19.png"/><Relationship Id="rId23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28.png"/><Relationship Id="rId26" Type="http://schemas.openxmlformats.org/officeDocument/2006/relationships/image" Target="../media/image29.png"/><Relationship Id="rId25" Type="http://schemas.openxmlformats.org/officeDocument/2006/relationships/image" Target="../media/image22.png"/><Relationship Id="rId28" Type="http://schemas.openxmlformats.org/officeDocument/2006/relationships/image" Target="../media/image24.png"/><Relationship Id="rId27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29" Type="http://schemas.openxmlformats.org/officeDocument/2006/relationships/image" Target="../media/image21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30" Type="http://schemas.openxmlformats.org/officeDocument/2006/relationships/image" Target="../media/image26.png"/><Relationship Id="rId11" Type="http://schemas.openxmlformats.org/officeDocument/2006/relationships/image" Target="../media/image12.png"/><Relationship Id="rId10" Type="http://schemas.openxmlformats.org/officeDocument/2006/relationships/image" Target="../media/image13.png"/><Relationship Id="rId13" Type="http://schemas.openxmlformats.org/officeDocument/2006/relationships/image" Target="../media/image6.png"/><Relationship Id="rId12" Type="http://schemas.openxmlformats.org/officeDocument/2006/relationships/image" Target="../media/image14.png"/><Relationship Id="rId15" Type="http://schemas.openxmlformats.org/officeDocument/2006/relationships/image" Target="../media/image4.png"/><Relationship Id="rId14" Type="http://schemas.openxmlformats.org/officeDocument/2006/relationships/image" Target="../media/image16.png"/><Relationship Id="rId17" Type="http://schemas.openxmlformats.org/officeDocument/2006/relationships/image" Target="../media/image3.png"/><Relationship Id="rId16" Type="http://schemas.openxmlformats.org/officeDocument/2006/relationships/image" Target="../media/image2.png"/><Relationship Id="rId19" Type="http://schemas.openxmlformats.org/officeDocument/2006/relationships/image" Target="../media/image10.png"/><Relationship Id="rId1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6238875"/>
            <a:ext cx="112395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190625"/>
            <a:ext cx="5476875" cy="5971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190625"/>
            <a:ext cx="5476875" cy="5971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1200150"/>
            <a:ext cx="54578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200400"/>
            <a:ext cx="5076825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8400" y="1200150"/>
            <a:ext cx="545782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38900" y="5057775"/>
            <a:ext cx="5076825" cy="1140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" y="1838325"/>
            <a:ext cx="2443162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09937" y="1838325"/>
            <a:ext cx="2443162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47887" y="4105275"/>
            <a:ext cx="2133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6275" y="4810125"/>
            <a:ext cx="50768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38900" y="2266950"/>
            <a:ext cx="50768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38900" y="3267075"/>
            <a:ext cx="24669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48750" y="3267075"/>
            <a:ext cx="24669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38900" y="4114800"/>
            <a:ext cx="24669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48750" y="4114800"/>
            <a:ext cx="24669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85800" y="4819650"/>
            <a:ext cx="2073622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438900" y="2266950"/>
            <a:ext cx="289366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332565" y="2266950"/>
            <a:ext cx="1269206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601771" y="2266950"/>
            <a:ext cx="913804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562725" y="3629025"/>
            <a:ext cx="707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318325" y="3629025"/>
            <a:ext cx="707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073925" y="3629025"/>
            <a:ext cx="707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172575" y="3629025"/>
            <a:ext cx="707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928175" y="3629025"/>
            <a:ext cx="707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0683775" y="3629025"/>
            <a:ext cx="707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562725" y="4476750"/>
            <a:ext cx="707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318325" y="4476750"/>
            <a:ext cx="707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073925" y="4476750"/>
            <a:ext cx="707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172575" y="4476750"/>
            <a:ext cx="707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928175" y="4476750"/>
            <a:ext cx="707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683775" y="4476750"/>
            <a:ext cx="707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 txBox="1"/>
          <p:nvPr/>
        </p:nvSpPr>
        <p:spPr>
          <a:xfrm>
            <a:off x="476250" y="381000"/>
            <a:ext cx="945118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DATA MIGRATION &amp; ENVIRONMENT CREATION STATUS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9477375" y="6453187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STEERCO REPORT | PAGE C1 | SLIDE 4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6438900" y="3009900"/>
            <a:ext cx="50768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STREAM-LEVEL PROGRESS</a:t>
            </a:r>
            <a:endParaRPr/>
          </a:p>
        </p:txBody>
      </p:sp>
      <p:pic>
        <p:nvPicPr>
          <p:cNvPr descr="image.png" id="119" name="Google Shape;119;p1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476250" y="6400800"/>
            <a:ext cx="98926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/>
        </p:nvSpPr>
        <p:spPr>
          <a:xfrm>
            <a:off x="676275" y="1314450"/>
            <a:ext cx="313039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D4ED8"/>
                </a:solidFill>
                <a:latin typeface="Urbanist"/>
                <a:ea typeface="Urbanist"/>
                <a:cs typeface="Urbanist"/>
                <a:sym typeface="Urbanist"/>
              </a:rPr>
              <a:t>DATA LOAD PROGRESS DASHBOARD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676275" y="3200400"/>
            <a:ext cx="50768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TIMELINE &amp; TARGET DATES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695325" y="3857625"/>
            <a:ext cx="50387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13-JAN13-FEB13-MARMARAPRMAY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676275" y="4572000"/>
            <a:ext cx="50768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PROGRESS VISUALIZATION (VS PLAN)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676275" y="5381625"/>
            <a:ext cx="50768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NOTES &amp; CONSIDERATIONS</a:t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676275" y="5591175"/>
            <a:ext cx="50768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6438900" y="1314450"/>
            <a:ext cx="365389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D4ED8"/>
                </a:solidFill>
                <a:latin typeface="Urbanist"/>
                <a:ea typeface="Urbanist"/>
                <a:cs typeface="Urbanist"/>
                <a:sym typeface="Urbanist"/>
              </a:rPr>
              <a:t>ENVIRONMENT CREATION: STREAM STATUS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6438900" y="2628900"/>
            <a:ext cx="50768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5966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● 57.0% Done</a:t>
            </a:r>
            <a:r>
              <a:rPr b="0" i="0" lang="en-US" sz="975" u="none" cap="none" strike="noStrik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b="0" i="0" lang="en-US" sz="975" u="none" cap="none" strike="noStrike">
                <a:solidFill>
                  <a:srgbClr val="D9770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● 24.8% In Progress</a:t>
            </a:r>
            <a:r>
              <a:rPr b="0" i="0" lang="en-US" sz="975" u="none" cap="none" strike="noStrik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b="0" i="0" lang="en-US" sz="975" u="none" cap="none" strike="noStrike">
                <a:solidFill>
                  <a:srgbClr val="DC262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● 18.2% Not Started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6810375" y="5210175"/>
            <a:ext cx="4780597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CRITICAL DEPENDENCIES &amp; BLOCKERS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6619875" y="5429250"/>
            <a:ext cx="474345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F1D1D"/>
                </a:solidFill>
                <a:latin typeface="Urbanist"/>
                <a:ea typeface="Urbanist"/>
                <a:cs typeface="Urbanist"/>
                <a:sym typeface="Urbanist"/>
              </a:rPr>
              <a:t>CRITICAL PATH DEPENDENCY:</a:t>
            </a:r>
            <a:r>
              <a:rPr b="0" i="0" lang="en-US" sz="1050" u="none" cap="none" strike="noStrike">
                <a:solidFill>
                  <a:srgbClr val="7F1D1D"/>
                </a:solidFill>
                <a:latin typeface="Urbanist"/>
                <a:ea typeface="Urbanist"/>
                <a:cs typeface="Urbanist"/>
                <a:sym typeface="Urbanist"/>
              </a:rPr>
              <a:t> Code awaited from external partner [SF].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6619875" y="5692080"/>
            <a:ext cx="4743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91C1C"/>
                </a:solidFill>
                <a:latin typeface="Urbanist"/>
                <a:ea typeface="Urbanist"/>
                <a:cs typeface="Urbanist"/>
                <a:sym typeface="Urbanist"/>
              </a:rPr>
              <a:t>Impact: Currently delaying 12 key integration environments.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6619875" y="5873055"/>
            <a:ext cx="474345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F1D1D"/>
                </a:solidFill>
                <a:latin typeface="Urbanist"/>
                <a:ea typeface="Urbanist"/>
                <a:cs typeface="Urbanist"/>
                <a:sym typeface="Urbanist"/>
              </a:rPr>
              <a:t>Expected resolution: TBD (Under active management).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828675" y="1990725"/>
            <a:ext cx="213836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TOTAL LOADED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828675" y="2181225"/>
            <a:ext cx="21383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1570 </a:t>
            </a:r>
            <a:r>
              <a:rPr b="0" i="0" lang="en-US" sz="3150" u="none" cap="none" strike="noStrike">
                <a:solidFill>
                  <a:srgbClr val="2563E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UNITS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828675" y="2638425"/>
            <a:ext cx="21383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41% | Max Projected: 3836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3462337" y="1990725"/>
            <a:ext cx="213836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CURRENT VELOCITY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3462337" y="2181225"/>
            <a:ext cx="21383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70</a:t>
            </a:r>
            <a:r>
              <a:rPr b="0" i="0" lang="en-US" sz="3150" u="none" cap="none" strike="noStrike">
                <a:solidFill>
                  <a:srgbClr val="04785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/DAY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3462337" y="2638425"/>
            <a:ext cx="21383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4785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Target: 100/day</a:t>
            </a:r>
            <a:endParaRPr/>
          </a:p>
        </p:txBody>
      </p:sp>
      <p:pic>
        <p:nvPicPr>
          <p:cNvPr descr="image.png" id="138" name="Google Shape;138;p1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2281237" y="4162425"/>
            <a:ext cx="109537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/>
          <p:nvPr/>
        </p:nvSpPr>
        <p:spPr>
          <a:xfrm>
            <a:off x="5035450" y="4819650"/>
            <a:ext cx="65097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ORIGINAL PLAN (3310)</a:t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5724525" y="4819650"/>
            <a:ext cx="19050" cy="314325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5743575" y="4819650"/>
            <a:ext cx="57150" cy="3143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4543425" y="5181600"/>
            <a:ext cx="11525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B91C1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MAX PROJECTED (3836)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847725" y="5724525"/>
            <a:ext cx="49053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Current velocity is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70/day</a:t>
            </a:r>
            <a:r>
              <a:rPr b="0" i="0" lang="en-US" sz="10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; target to reach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100/day</a:t>
            </a:r>
            <a:r>
              <a:rPr b="0" i="0" lang="en-US" sz="10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847725" y="5987355"/>
            <a:ext cx="49053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Bulk-operation admin role should help improve data load turnaround time.</a:t>
            </a:r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847725" y="6250185"/>
            <a:ext cx="49053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SIT reupload requests and lab support increased effort significantly.</a:t>
            </a:r>
            <a:endParaRPr/>
          </a:p>
        </p:txBody>
      </p:sp>
      <p:sp>
        <p:nvSpPr>
          <p:cNvPr id="146" name="Google Shape;146;p13"/>
          <p:cNvSpPr txBox="1"/>
          <p:nvPr/>
        </p:nvSpPr>
        <p:spPr>
          <a:xfrm>
            <a:off x="847725" y="6513016"/>
            <a:ext cx="4905375" cy="344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Bank Certification + Labs + Interops would require significant effort and reduce velocity.</a:t>
            </a:r>
            <a:endParaRPr/>
          </a:p>
        </p:txBody>
      </p:sp>
      <p:sp>
        <p:nvSpPr>
          <p:cNvPr id="147" name="Google Shape;147;p13"/>
          <p:cNvSpPr txBox="1"/>
          <p:nvPr/>
        </p:nvSpPr>
        <p:spPr>
          <a:xfrm>
            <a:off x="6438900" y="2047875"/>
            <a:ext cx="1133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STATUS OVERVIEW</a:t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10048875" y="2047875"/>
            <a:ext cx="14668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(Target: 100% Completion)</a:t>
            </a:r>
            <a:endParaRPr/>
          </a:p>
        </p:txBody>
      </p:sp>
      <p:sp>
        <p:nvSpPr>
          <p:cNvPr id="149" name="Google Shape;149;p13"/>
          <p:cNvSpPr txBox="1"/>
          <p:nvPr/>
        </p:nvSpPr>
        <p:spPr>
          <a:xfrm>
            <a:off x="6562725" y="3390900"/>
            <a:ext cx="233029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CORE SIT/UAT</a:t>
            </a:r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9172575" y="3390900"/>
            <a:ext cx="233029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DATABASE LAYER</a:t>
            </a:r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6562725" y="4238625"/>
            <a:ext cx="233029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INTEGRATION &amp; INTEROPS</a:t>
            </a:r>
            <a:endParaRPr/>
          </a:p>
        </p:txBody>
      </p:sp>
      <p:sp>
        <p:nvSpPr>
          <p:cNvPr id="152" name="Google Shape;152;p13"/>
          <p:cNvSpPr txBox="1"/>
          <p:nvPr/>
        </p:nvSpPr>
        <p:spPr>
          <a:xfrm>
            <a:off x="9172575" y="4238625"/>
            <a:ext cx="233029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PERIPHERAL TOOLS</a:t>
            </a:r>
            <a:endParaRPr/>
          </a:p>
        </p:txBody>
      </p:sp>
      <p:pic>
        <p:nvPicPr>
          <p:cNvPr descr="image.png" id="153" name="Google Shape;153;p1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619875" y="5224462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3"/>
          <p:cNvSpPr txBox="1"/>
          <p:nvPr/>
        </p:nvSpPr>
        <p:spPr>
          <a:xfrm>
            <a:off x="676275" y="5695950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4ED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5" name="Google Shape;155;p13"/>
          <p:cNvSpPr txBox="1"/>
          <p:nvPr/>
        </p:nvSpPr>
        <p:spPr>
          <a:xfrm>
            <a:off x="676275" y="5958780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4ED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676275" y="6221610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4ED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7" name="Google Shape;157;p13"/>
          <p:cNvSpPr txBox="1"/>
          <p:nvPr/>
        </p:nvSpPr>
        <p:spPr>
          <a:xfrm>
            <a:off x="676275" y="6484441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4ED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/>
        </p:nvSpPr>
        <p:spPr>
          <a:xfrm>
            <a:off x="476250" y="381000"/>
            <a:ext cx="11715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pic>
        <p:nvPicPr>
          <p:cNvPr descr="image.png" id="163" name="Google Shape;1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8191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 txBox="1"/>
          <p:nvPr/>
        </p:nvSpPr>
        <p:spPr>
          <a:xfrm>
            <a:off x="1571625" y="800100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https://cdn.freebiesupply.com/logos/large/2x/societe-generale-2-logo-black-and-white.png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1571625" y="1133475"/>
            <a:ext cx="4381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freebiesupply.com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