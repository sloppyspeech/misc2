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6858000" cx="12192000"/>
  <p:notesSz cx="6858000" cy="9144000"/>
  <p:embeddedFontLst>
    <p:embeddedFont>
      <p:font typeface="Inter SemiBold"/>
      <p:regular r:id="rId9"/>
      <p:bold r:id="rId10"/>
      <p:italic r:id="rId11"/>
      <p:boldItalic r:id="rId12"/>
    </p:embeddedFont>
    <p:embeddedFont>
      <p:font typeface="Playfair Display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148ADE-4A14-4B62-BE9B-9CCAE41A2874}">
  <a:tblStyle styleId="{27148ADE-4A14-4B62-BE9B-9CCAE41A287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font" Target="fonts/InterSemiBold-italic.fntdata"/><Relationship Id="rId22" Type="http://schemas.openxmlformats.org/officeDocument/2006/relationships/font" Target="fonts/InterMedium-bold.fntdata"/><Relationship Id="rId10" Type="http://schemas.openxmlformats.org/officeDocument/2006/relationships/font" Target="fonts/InterSemiBold-bold.fntdata"/><Relationship Id="rId21" Type="http://schemas.openxmlformats.org/officeDocument/2006/relationships/font" Target="fonts/InterMedium-regular.fntdata"/><Relationship Id="rId13" Type="http://schemas.openxmlformats.org/officeDocument/2006/relationships/font" Target="fonts/PlayfairDisplay-regular.fntdata"/><Relationship Id="rId24" Type="http://schemas.openxmlformats.org/officeDocument/2006/relationships/font" Target="fonts/InterMedium-boldItalic.fntdata"/><Relationship Id="rId12" Type="http://schemas.openxmlformats.org/officeDocument/2006/relationships/font" Target="fonts/InterSemiBold-boldItalic.fntdata"/><Relationship Id="rId23" Type="http://schemas.openxmlformats.org/officeDocument/2006/relationships/font" Target="fonts/Inter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InterSemiBold-regular.fntdata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7" Type="http://schemas.openxmlformats.org/officeDocument/2006/relationships/font" Target="fonts/Inter-regular.fntdata"/><Relationship Id="rId16" Type="http://schemas.openxmlformats.org/officeDocument/2006/relationships/font" Target="fonts/PlayfairDisplay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10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7308" y="1866900"/>
            <a:ext cx="4103191" cy="2051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505450"/>
            <a:ext cx="6564808" cy="1561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7352853"/>
            <a:ext cx="1104900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8458200" y="952500"/>
            <a:ext cx="3162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STRATEGIC WINDOW: 07 APR — 07 JUN 2024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22C55E"/>
                </a:solidFill>
                <a:latin typeface="Inter Medium"/>
                <a:ea typeface="Inter Medium"/>
                <a:cs typeface="Inter Medium"/>
                <a:sym typeface="Inter Medium"/>
              </a:rPr>
              <a:t>STATUS: ON TRACK / AHEAD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76250"/>
            <a:ext cx="736592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Executive Status: Priority Items Update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1085850"/>
            <a:ext cx="70151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SIT &amp; Bank Certification Portfolio Readiness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28675" y="1866900"/>
            <a:ext cx="662301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PORTFOLIO PERFORMANCE MATRIX</a:t>
            </a:r>
            <a:endParaRPr/>
          </a:p>
        </p:txBody>
      </p:sp>
      <p:graphicFrame>
        <p:nvGraphicFramePr>
          <p:cNvPr id="92" name="Google Shape;92;p13"/>
          <p:cNvGraphicFramePr/>
          <p:nvPr/>
        </p:nvGraphicFramePr>
        <p:xfrm>
          <a:off x="571500" y="2257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{27148ADE-4A14-4B62-BE9B-9CCAE41A2874}</a:tableStyleId>
              </a:tblPr>
              <a:tblGrid>
                <a:gridCol w="1913325"/>
                <a:gridCol w="2325600"/>
                <a:gridCol w="1078250"/>
                <a:gridCol w="1247625"/>
              </a:tblGrid>
              <a:tr h="42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Stream / Initiative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Current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 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2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BDM Stream (21 Apps)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Lot 4-12 Execution Complete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31 May 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PAY Stream (10 Apps)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Certification Ready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 May 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IRIS Priority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Validation Finalized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 May 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CBPR / SYB / MYA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Ongoing 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66% (Avg)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Week 2 May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MPR Ancillary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Initial Verification 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 May 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93" name="Google Shape;9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890712"/>
            <a:ext cx="16192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828675" y="5114925"/>
            <a:ext cx="662301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RISKS &amp; EXCEPTIONS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764958" y="2114550"/>
            <a:ext cx="360789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Critical Path &amp; Dependencies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764958" y="2390775"/>
            <a:ext cx="3607891" cy="1279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BDRD Migration: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Sequential data load verified for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KMKL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environment, followed by promotion to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UATBDM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Execution Strategy: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Final SIT runs for UOC (User Observation Comments) prioritized to prevent certification spillover.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755433" y="4203799"/>
            <a:ext cx="40583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MILESTONE TRACKING</a:t>
            </a:r>
            <a:endParaRPr/>
          </a:p>
        </p:txBody>
      </p:sp>
      <p:pic>
        <p:nvPicPr>
          <p:cNvPr descr="image.png" id="98" name="Google Shape;9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34525" y="6876603"/>
            <a:ext cx="2085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/>
          <p:nvPr/>
        </p:nvSpPr>
        <p:spPr>
          <a:xfrm>
            <a:off x="571500" y="3014662"/>
            <a:ext cx="191333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2484834" y="3014662"/>
            <a:ext cx="23255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4810422" y="3014662"/>
            <a:ext cx="10782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5888682" y="3014662"/>
            <a:ext cx="12476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571500" y="3452812"/>
            <a:ext cx="191333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2484834" y="3452812"/>
            <a:ext cx="23255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4810422" y="3452812"/>
            <a:ext cx="10782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5888682" y="3452812"/>
            <a:ext cx="12476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571500" y="3890962"/>
            <a:ext cx="191333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2484834" y="3890962"/>
            <a:ext cx="23255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4810422" y="3890962"/>
            <a:ext cx="10782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5888682" y="3890962"/>
            <a:ext cx="12476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571500" y="4329112"/>
            <a:ext cx="191333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2484834" y="4329112"/>
            <a:ext cx="23255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4810422" y="4329112"/>
            <a:ext cx="10782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5888682" y="4329112"/>
            <a:ext cx="12476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571500" y="4767262"/>
            <a:ext cx="191333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2484834" y="4767262"/>
            <a:ext cx="23255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4810422" y="4767262"/>
            <a:ext cx="10782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5888682" y="4767262"/>
            <a:ext cx="12476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9" name="Google Shape;119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138737"/>
            <a:ext cx="16192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/>
        </p:nvSpPr>
        <p:spPr>
          <a:xfrm>
            <a:off x="847725" y="5753100"/>
            <a:ext cx="6040933" cy="1066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Resource Constraint: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CBPR (74%) progress impacted by App Team bandwidth. Technical triage initiated to clear week 2 May target.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Dependency: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Snowflake delivery remains the critical path for App 65-66 (PAY Stream) to maintain 100% status for certification.</a:t>
            </a:r>
            <a:endParaRPr/>
          </a:p>
        </p:txBody>
      </p:sp>
      <p:pic>
        <p:nvPicPr>
          <p:cNvPr descr="image.png" id="121" name="Google Shape;12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17308" y="4227611"/>
            <a:ext cx="1428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 txBox="1"/>
          <p:nvPr/>
        </p:nvSpPr>
        <p:spPr>
          <a:xfrm>
            <a:off x="7517308" y="4708624"/>
            <a:ext cx="41031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Execution Commencement </a:t>
            </a:r>
            <a:r>
              <a:rPr b="0" i="0" lang="en-US" sz="1050" u="none" cap="none" strike="noStrike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27 April</a:t>
            </a: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7517308" y="4984849"/>
            <a:ext cx="41031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7517308" y="5108674"/>
            <a:ext cx="41031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Bank Certification Start </a:t>
            </a:r>
            <a:r>
              <a:rPr b="0" i="0" lang="en-US" sz="1050" u="none" cap="none" strike="noStrike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13 May</a:t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7517308" y="5384899"/>
            <a:ext cx="41031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7517308" y="5508724"/>
            <a:ext cx="41031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SIT / CB Final Closure </a:t>
            </a:r>
            <a:r>
              <a:rPr b="0" i="0" lang="en-US" sz="1050" u="none" cap="none" strike="noStrike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31 May</a:t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7517308" y="5784949"/>
            <a:ext cx="41031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7517308" y="5908774"/>
            <a:ext cx="410319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Project Handover </a:t>
            </a:r>
            <a:r>
              <a:rPr b="0" i="0" lang="en-US" sz="1050" u="none" cap="none" strike="noStrike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07 June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745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1666875" y="1317426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https://interiordesign.net/wp-content/uploads/2024/05/schiller_projects-three_cairns_group.jpg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666875" y="1517451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interiordesign.net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571500" y="665857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